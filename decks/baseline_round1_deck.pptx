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ec4b8b2f6f4912" /><Relationship Type="http://schemas.openxmlformats.org/officeDocument/2006/relationships/extended-properties" Target="/docProps/app.xml" Id="R86acde0c981f4e45" /><Relationship Type="http://schemas.openxmlformats.org/officeDocument/2006/relationships/officeDocument" Target="/ppt/presentation.xml" Id="Rc2f88041008942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15b3edacfc4020"/>
  </p:sldMasterIdLst>
  <p:notesMasterIdLst>
    <p:notesMasterId xmlns:r="http://schemas.openxmlformats.org/officeDocument/2006/relationships" r:id="Rd5dbafa10014483c"/>
  </p:notesMasterIdLst>
  <p:sldIdLst>
    <p:sldId xmlns:r="http://schemas.openxmlformats.org/officeDocument/2006/relationships" id="256" r:id="Rf16539eef2b840c8"/>
    <p:sldId xmlns:r="http://schemas.openxmlformats.org/officeDocument/2006/relationships" id="257" r:id="R7534876ea24e4e38"/>
    <p:sldId xmlns:r="http://schemas.openxmlformats.org/officeDocument/2006/relationships" id="258" r:id="Rb7185310c83444f5"/>
    <p:sldId xmlns:r="http://schemas.openxmlformats.org/officeDocument/2006/relationships" id="259" r:id="R77b004d78b8543bc"/>
    <p:sldId xmlns:r="http://schemas.openxmlformats.org/officeDocument/2006/relationships" id="260" r:id="Rf940152061284799"/>
    <p:sldId xmlns:r="http://schemas.openxmlformats.org/officeDocument/2006/relationships" id="261" r:id="R8c89cd264a5540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c3bdbc3d814aba" /><Relationship Type="http://schemas.openxmlformats.org/officeDocument/2006/relationships/slideMaster" Target="/ppt/slideMasters/slideMaster1.xml" Id="Rff15b3edacfc4020" /><Relationship Type="http://schemas.openxmlformats.org/officeDocument/2006/relationships/notesMaster" Target="/ppt/notesMasters/notesMaster1.xml" Id="Rd5dbafa10014483c" /><Relationship Type="http://schemas.openxmlformats.org/officeDocument/2006/relationships/presProps" Target="/ppt/presProps.xml" Id="R469fb25c31594373" /><Relationship Type="http://schemas.openxmlformats.org/officeDocument/2006/relationships/tableStyles" Target="/ppt/tableStyles.xml" Id="Rd778204f42314841" /><Relationship Type="http://schemas.openxmlformats.org/officeDocument/2006/relationships/slide" Target="/ppt/slides/slide1.xml" Id="Rf16539eef2b840c8" /><Relationship Type="http://schemas.openxmlformats.org/officeDocument/2006/relationships/slide" Target="/ppt/slides/slide2.xml" Id="R7534876ea24e4e38" /><Relationship Type="http://schemas.openxmlformats.org/officeDocument/2006/relationships/slide" Target="/ppt/slides/slide3.xml" Id="Rb7185310c83444f5" /><Relationship Type="http://schemas.openxmlformats.org/officeDocument/2006/relationships/slide" Target="/ppt/slides/slide4.xml" Id="R77b004d78b8543bc" /><Relationship Type="http://schemas.openxmlformats.org/officeDocument/2006/relationships/slide" Target="/ppt/slides/slide5.xml" Id="Rf940152061284799" /><Relationship Type="http://schemas.openxmlformats.org/officeDocument/2006/relationships/slide" Target="/ppt/slides/slide6.xml" Id="R8c89cd264a5540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737b60e95d4a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619a901ff547af" /><Relationship Type="http://schemas.openxmlformats.org/officeDocument/2006/relationships/notesMaster" Target="/ppt/notesMasters/notesMaster1.xml" Id="R645c7f2f518844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330de98c834aab" /><Relationship Type="http://schemas.openxmlformats.org/officeDocument/2006/relationships/notesMaster" Target="/ppt/notesMasters/notesMaster1.xml" Id="R5e4254ab628e4e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6855ab88244ef7" /><Relationship Type="http://schemas.openxmlformats.org/officeDocument/2006/relationships/notesMaster" Target="/ppt/notesMasters/notesMaster1.xml" Id="R68aa50a28b0a42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9a4836df384253" /><Relationship Type="http://schemas.openxmlformats.org/officeDocument/2006/relationships/notesMaster" Target="/ppt/notesMasters/notesMaster1.xml" Id="R64adf12b60a548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2f95b8fc484007" /><Relationship Type="http://schemas.openxmlformats.org/officeDocument/2006/relationships/notesMaster" Target="/ppt/notesMasters/notesMaster1.xml" Id="R685d8d97d9c145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82ed8eeec144da" /><Relationship Type="http://schemas.openxmlformats.org/officeDocument/2006/relationships/notesMaster" Target="/ppt/notesMasters/notesMaster1.xml" Id="R193d7a9ce8b54d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fcb5ae2f140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f4450b23cb4687" /><Relationship Type="http://schemas.openxmlformats.org/officeDocument/2006/relationships/slideLayout" Target="/ppt/slideLayouts/slideLayout1.xml" Id="Rc2b51646ca0d4b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b51646ca0d4b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962cf9d234127" /><Relationship Type="http://schemas.openxmlformats.org/officeDocument/2006/relationships/notesSlide" Target="/ppt/notesSlides/notesSlide1.xml" Id="R4acad825844543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4659b41f94dc1" /><Relationship Type="http://schemas.openxmlformats.org/officeDocument/2006/relationships/notesSlide" Target="/ppt/notesSlides/notesSlide2.xml" Id="R940e5d7729c245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1dffeff7b497e" /><Relationship Type="http://schemas.openxmlformats.org/officeDocument/2006/relationships/notesSlide" Target="/ppt/notesSlides/notesSlide3.xml" Id="R8151d5c5282547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bb6c36bc64abd" /><Relationship Type="http://schemas.openxmlformats.org/officeDocument/2006/relationships/notesSlide" Target="/ppt/notesSlides/notesSlide4.xml" Id="Re1507f63ff724a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046a226c645cc" /><Relationship Type="http://schemas.openxmlformats.org/officeDocument/2006/relationships/notesSlide" Target="/ppt/notesSlides/notesSlide5.xml" Id="Rb81719f0b49748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7d65ca8b54452" /><Relationship Type="http://schemas.openxmlformats.org/officeDocument/2006/relationships/notesSlide" Target="/ppt/notesSlides/notesSlide6.xml" Id="R60f13b538bec41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15996D-822D-4D85-82F7-78528DF8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EB8"/>
          </a:solidFill>
          <a:ln xmlns:a="http://schemas.openxmlformats.org/drawingml/2006/main" w="0">
            <a:solidFill>
              <a:srgbClr val="005E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FFDC5-158B-433B-9026-FF809013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7"/>
                </a:solidFill>
              </a:defRPr>
            </a:pPr>
            <a:r>
              <a:rPr sz="3600" b="1">
                <a:solidFill>
                  <a:srgbClr val="1F2937"/>
                </a:solidFill>
              </a:rPr>
              <a:t>Lumora Family Support Grant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FE9CB-E0C5-4929-8467-0FAAFB08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Round 1 baseline review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269D1-647A-48A6-BB69-7DE9856B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Prepared for internal training | Synthetic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B637A-897D-4C73-8473-0E208882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4BF45-ED1C-407A-8D75-68E292BA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World Bank Training Demo | Synthetic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92A7F-3F23-405A-ADB0-6E7C9520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0749158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291BC-072E-4915-BCC4-3E25510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EB8"/>
                </a:solidFill>
              </a:defRPr>
            </a:pPr>
            <a:r>
              <a:rPr sz="975" b="1">
                <a:solidFill>
                  <a:srgbClr val="005EB8"/>
                </a:solidFill>
              </a:rPr>
              <a:t>ROUND 1 INSIGHTS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10FFA-43DA-4F9F-9E34-C3D13153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</a:rPr>
              <a:t>Baseline shows a large eligible population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8B8CB-9BDF-4786-8EB0-72F885EC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96327-48F5-4F1A-A885-C9E2E544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D3E48-9C2A-40FE-91DA-369504EA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5EB8"/>
                </a:solidFill>
              </a:defRPr>
            </a:pPr>
            <a:r>
              <a:rPr sz="2550" b="1">
                <a:solidFill>
                  <a:srgbClr val="005EB8"/>
                </a:solidFill>
              </a:rPr>
              <a:t>1,200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14F42-D032-4534-A6A6-8221B597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Baseline households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96B66-43AC-47E7-BFD8-336D27D1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48C47-1034-4D8A-B9B2-EFCD101F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431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D32"/>
                </a:solidFill>
              </a:defRPr>
            </a:pPr>
            <a:r>
              <a:rPr sz="2550" b="1">
                <a:solidFill>
                  <a:srgbClr val="2E7D32"/>
                </a:solidFill>
              </a:rPr>
              <a:t>808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AA9C3-0DC8-49E2-927B-EB9E0031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Eligible by PMT/disability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9DEA6-3F75-4D38-B56D-DE2FA22F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CD39E-AB1B-48E6-87A9-AAC60641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3E0"/>
                </a:solidFill>
              </a:defRPr>
            </a:pPr>
            <a:r>
              <a:rPr sz="2550" b="1">
                <a:solidFill>
                  <a:srgbClr val="00A3E0"/>
                </a:solidFill>
              </a:rPr>
              <a:t>38%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93BD7-D66E-475D-ACC4-15316E99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Female-headed households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FAF29-4D89-4823-9685-3DC65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E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56C6C-FDDC-40DB-AD2A-80B89573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8915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Round 1 confirms the program is operating in districts with substantial vulnerability. Follow-up data are needed before saying whether households received payments reliably.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78570-B781-4B54-939B-E22D390E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E67A1-867F-4DDE-919B-481D628D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World Bank Training Demo | Synthetic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8AE7E-E5D9-4611-ACDB-75877D17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21006452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EF4551-5150-4280-87A3-857DCFCC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EB8"/>
                </a:solidFill>
              </a:defRPr>
            </a:pPr>
            <a:r>
              <a:rPr sz="975" b="1">
                <a:solidFill>
                  <a:srgbClr val="005EB8"/>
                </a:solidFill>
              </a:rPr>
              <a:t>BASELINE LIMITATION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56074-9397-42F0-B971-ABF3BC08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</a:rPr>
              <a:t>Round 1 deck has no payment reliability evidence yet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0CCCD-C1F3-4AB8-8832-5FF5D0B8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EE5AD-6DA7-433A-A944-B3A27FD4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EB8"/>
          </a:solidFill>
          <a:ln xmlns:a="http://schemas.openxmlformats.org/drawingml/2006/main" w="9525">
            <a:solidFill>
              <a:srgbClr val="005E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10A41-A391-43E1-9DDB-E0907A87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Evidence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C23D4-4536-457E-A436-36BE88A3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66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Round 1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DD9AD-672A-4B27-AB63-C6B458CF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6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Needed from follow-up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E3E2F-C230-4841-B34A-3B45FCD1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68998-48E5-4812-8489-69758A01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Targeting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BE03C-6A74-4744-9B7D-FE87323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28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Eligibility measured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6AA4E-169D-490D-8599-C9308E96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28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Coverage, leakage, exclusion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6D82C-8F33-469B-B430-ED13B530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12E98-E630-4D0C-8119-B6278B76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Payments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5CEAE-D0CE-47DE-84DB-B073EDCE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90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Not yet observed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2BCD0-8AA6-4F86-8508-AF658928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Delay, failure, underpayment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3C0B7-70D4-4DA3-9200-6ABD0412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429E6-7933-4500-A01B-DFC5D28C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Welfare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F585DE-BF26-47D1-B911-03F3671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52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Baseline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A1E35-BA54-4B87-9CF7-E4729FAB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Descriptive 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13579-E92E-4826-9F7A-457FA15B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8DD34-1B35-40D6-8B98-8274AF64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Field 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9CD2A-55B9-4BF9-91AD-90A8AE41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14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Initial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2207CD-D7A2-4CC3-9E10-05FBA495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Enumerator, back-check, log patterns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81A0A-675C-482E-A2AF-3CDFFDB2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5D8F51-79A2-4461-AF9E-362841BC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World Bank Training Demo | Synthetic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B8920-013A-43E6-AC0D-F5E5D3B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7418921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2EF6F8-1BC1-444D-9F06-9DE46360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EB8"/>
                </a:solidFill>
              </a:defRPr>
            </a:pPr>
            <a:r>
              <a:rPr sz="975" b="1">
                <a:solidFill>
                  <a:srgbClr val="005EB8"/>
                </a:solidFill>
              </a:rPr>
              <a:t>DATA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55CB2-035C-4F33-B82A-35E2B302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</a:rPr>
              <a:t>Several baseline records require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29BD6-2F06-4299-AF42-E3FB4CD5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1E453-F82C-4F75-8A4F-8BCC6C43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7DF42-F613-48E3-A679-A18D72D8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8724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Baseline flags include duplicate household IDs, implausible household sizes, and missing PMT values concentrated under one enumerator.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2C4A5-A9EF-453A-9633-3174BF8E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838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Participant task: update this slide with follow-up HFC evidence from survey logs, back-checks, field visits, and payment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1C425-8D31-4F62-AB3E-FD3D9831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ACE93-6251-434D-A77B-64F4C94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World Bank Training Demo | Synthetic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5F2FA-07F0-4057-AC8D-0DC348DA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20377828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12B357-CA71-4511-B051-62A4DD6A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EB8"/>
                </a:solidFill>
              </a:defRPr>
            </a:pPr>
            <a:r>
              <a:rPr sz="975" b="1">
                <a:solidFill>
                  <a:srgbClr val="005EB8"/>
                </a:solidFill>
              </a:rPr>
              <a:t>MANAGER EXERCISE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A7BD4-A759-42AE-B453-693ADE1D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</a:rPr>
              <a:t>Placeholder: update with follow-up figures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1E0F4-9AF0-4962-A647-834CBD04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6052F-131C-4F51-ADC0-DBCBF8FB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</a:defRPr>
            </a:pPr>
            <a:r>
              <a:rPr sz="1950" b="0">
                <a:solidFill>
                  <a:srgbClr val="64748B"/>
                </a:solidFill>
              </a:rPr>
              <a:t>Replace this placeholder with generated targeting, payment, welfare, and data quality figures.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8A3DB-3610-4EF1-B4A6-F42EC814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857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EE8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6DBE9-D1D2-4745-B696-4C2BF5CB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Expected source folders: outputs/figures and outputs/tables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488CB-C943-45CB-8BEC-78C85D83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A5480-4C3A-4E23-BC52-3894AA6B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World Bank Training Demo | Synthetic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35249-075D-4001-9A95-8259A5F0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13168458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B18D2B-AE43-4509-8AA9-E957F358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5EB8"/>
                </a:solidFill>
              </a:defRPr>
            </a:pPr>
            <a:r>
              <a:rPr sz="975" b="1">
                <a:solidFill>
                  <a:srgbClr val="005EB8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FCDB6-8B97-43A1-A9B7-A6F8EAD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</a:rPr>
              <a:t>Open questions for follow-up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D7E32-9C62-4F86-A900-12A093C6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92031-841D-412C-8C09-276738E7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92392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1. Which baseline-only claims remain true?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2. Which slides need new figures or revised wording?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3. Which numbers are generated by code rather than typed into the deck?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4. What limitations should be stated for descriptive welfare changes?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FFA2C-9C76-45A1-A631-56EEC32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1EF18-79F1-4175-B8F6-61E80585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World Bank Training Demo | Synthetic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DBBCB-EA82-4854-B44E-32862E58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88727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2026-06-30T16:26:54.3970000Z</dcterms:created>
  <dcterms:modified xsi:type="dcterms:W3CDTF">2026-06-30T16:26:54.3970000Z</dcterms:modified>
</coreProperties>
</file>